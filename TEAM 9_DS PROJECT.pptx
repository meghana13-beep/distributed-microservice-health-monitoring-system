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313" r:id="rId5"/>
    <p:sldId id="314" r:id="rId6"/>
    <p:sldId id="315" r:id="rId7"/>
    <p:sldId id="316" r:id="rId8"/>
    <p:sldId id="287" r:id="rId9"/>
    <p:sldId id="270" r:id="rId10"/>
    <p:sldId id="306" r:id="rId11"/>
    <p:sldId id="296" r:id="rId12"/>
    <p:sldId id="312" r:id="rId13"/>
    <p:sldId id="310" r:id="rId14"/>
    <p:sldId id="298" r:id="rId15"/>
    <p:sldId id="308" r:id="rId16"/>
    <p:sldId id="284" r:id="rId17"/>
    <p:sldId id="317" r:id="rId18"/>
    <p:sldId id="307" r:id="rId19"/>
    <p:sldId id="293" r:id="rId20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4EEA22-61A4-4567-A1E2-66C57B556CE9}" v="1" dt="2026-04-28T16:36:43.71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30" autoAdjust="0"/>
    <p:restoredTop sz="94660"/>
  </p:normalViewPr>
  <p:slideViewPr>
    <p:cSldViewPr snapToGrid="0">
      <p:cViewPr>
        <p:scale>
          <a:sx n="66" d="100"/>
          <a:sy n="66" d="100"/>
        </p:scale>
        <p:origin x="1515" y="23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773998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2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3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4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60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72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8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8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9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0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pic>
        <p:nvPicPr>
          <p:cNvPr id="4" name="image.png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38100"/>
            <a:ext cx="1104900" cy="11049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8692" y="381000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661307" marR="0" indent="-204107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00150" marR="0" indent="-28575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6002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0828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5400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9972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4544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9116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Z-SPA"/>
          <p:cNvSpPr txBox="1">
            <a:spLocks noGrp="1"/>
          </p:cNvSpPr>
          <p:nvPr>
            <p:ph type="title"/>
          </p:nvPr>
        </p:nvSpPr>
        <p:spPr>
          <a:xfrm>
            <a:off x="762000" y="1447833"/>
            <a:ext cx="7696200" cy="9144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</a:t>
            </a:r>
            <a:r>
              <a:rPr lang="en-US" sz="4000" b="1" dirty="0">
                <a:sym typeface="Times New Roman"/>
              </a:rPr>
              <a:t>Distributed Microservice Health Monitoring System</a:t>
            </a:r>
            <a:endParaRPr sz="3600" b="0" dirty="0"/>
          </a:p>
        </p:txBody>
      </p:sp>
      <p:sp>
        <p:nvSpPr>
          <p:cNvPr id="13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grpSp>
        <p:nvGrpSpPr>
          <p:cNvPr id="135" name="Group"/>
          <p:cNvGrpSpPr/>
          <p:nvPr/>
        </p:nvGrpSpPr>
        <p:grpSpPr>
          <a:xfrm>
            <a:off x="674915" y="2668417"/>
            <a:ext cx="8097814" cy="386443"/>
            <a:chOff x="0" y="0"/>
            <a:chExt cx="8097813" cy="3788885"/>
          </a:xfrm>
        </p:grpSpPr>
        <p:sp>
          <p:nvSpPr>
            <p:cNvPr id="133" name="Rectangle"/>
            <p:cNvSpPr/>
            <p:nvPr/>
          </p:nvSpPr>
          <p:spPr>
            <a:xfrm>
              <a:off x="0" y="0"/>
              <a:ext cx="8097814" cy="378888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endParaRPr/>
            </a:p>
          </p:txBody>
        </p:sp>
        <p:sp>
          <p:nvSpPr>
            <p:cNvPr id="134" name="Team Members     Group No: 13…"/>
            <p:cNvSpPr txBox="1"/>
            <p:nvPr/>
          </p:nvSpPr>
          <p:spPr>
            <a:xfrm>
              <a:off x="44575" y="0"/>
              <a:ext cx="8008664" cy="35435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rPr dirty="0"/>
                <a:t>Team</a:t>
              </a:r>
              <a:r>
                <a:rPr lang="en-IN" dirty="0"/>
                <a:t>_No</a:t>
              </a:r>
              <a:r>
                <a:rPr lang="en-US" dirty="0"/>
                <a:t>: 9</a:t>
              </a:r>
              <a:r>
                <a:rPr dirty="0"/>
                <a:t>		</a:t>
              </a:r>
              <a:r>
                <a:rPr b="0" dirty="0"/>
                <a:t>		</a:t>
              </a:r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 dirty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endParaRPr dirty="0"/>
            </a:p>
          </p:txBody>
        </p:sp>
      </p:grpSp>
      <p:graphicFrame>
        <p:nvGraphicFramePr>
          <p:cNvPr id="137" name="Table"/>
          <p:cNvGraphicFramePr/>
          <p:nvPr>
            <p:extLst>
              <p:ext uri="{D42A27DB-BD31-4B8C-83A1-F6EECF244321}">
                <p14:modId xmlns:p14="http://schemas.microsoft.com/office/powerpoint/2010/main" val="4082424923"/>
              </p:ext>
            </p:extLst>
          </p:nvPr>
        </p:nvGraphicFramePr>
        <p:xfrm>
          <a:off x="674915" y="3361044"/>
          <a:ext cx="7983372" cy="1512473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65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Reg.No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Student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Section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BL</a:t>
                      </a:r>
                      <a:r>
                        <a:rPr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.EN.U4CSE</a:t>
                      </a:r>
                      <a:r>
                        <a:rPr lang="en-IN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23141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4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P.Pavitra</a:t>
                      </a: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Kumari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 </a:t>
                      </a: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BL.EN.U4CSE23130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4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K.L.Anvitha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 B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2107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BL.EN.U4CSE23132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4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M.Sai</a:t>
                      </a: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Meghana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 B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46137"/>
                  </a:ext>
                </a:extLst>
              </a:tr>
            </a:tbl>
          </a:graphicData>
        </a:graphic>
      </p:graphicFrame>
      <p:sp>
        <p:nvSpPr>
          <p:cNvPr id="2" name="Rectangle">
            <a:extLst>
              <a:ext uri="{FF2B5EF4-FFF2-40B4-BE49-F238E27FC236}">
                <a16:creationId xmlns:a16="http://schemas.microsoft.com/office/drawing/2014/main" id="{7840AD4D-AC66-9020-8CDF-AF322A6ECCC2}"/>
              </a:ext>
            </a:extLst>
          </p:cNvPr>
          <p:cNvSpPr/>
          <p:nvPr/>
        </p:nvSpPr>
        <p:spPr>
          <a:xfrm>
            <a:off x="1447800" y="4572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r>
              <a:rPr lang="en-IN" dirty="0"/>
              <a:t>23CSE312 Distributed System</a:t>
            </a:r>
            <a:endParaRPr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0B835FDA-DC81-4F5C-BEDE-40BF7A20AA2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41" name="Content"/>
          <p:cNvSpPr txBox="1">
            <a:spLocks noGrp="1"/>
          </p:cNvSpPr>
          <p:nvPr>
            <p:ph type="title"/>
          </p:nvPr>
        </p:nvSpPr>
        <p:spPr>
          <a:xfrm>
            <a:off x="523336" y="1404129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Problem</a:t>
            </a:r>
            <a:r>
              <a:rPr lang="en-IN" dirty="0"/>
              <a:t> Definition</a:t>
            </a:r>
            <a:endParaRPr dirty="0"/>
          </a:p>
        </p:txBody>
      </p:sp>
      <p:sp>
        <p:nvSpPr>
          <p:cNvPr id="14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44" name="Introduction…"/>
          <p:cNvSpPr/>
          <p:nvPr/>
        </p:nvSpPr>
        <p:spPr>
          <a:xfrm>
            <a:off x="828127" y="2089929"/>
            <a:ext cx="7680961" cy="40934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 marL="342900" indent="-342900">
              <a:spcBef>
                <a:spcPts val="400"/>
              </a:spcBef>
              <a:buClr>
                <a:srgbClr val="6699FF"/>
              </a:buClr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Modern distributed systems consist of multiple microservices that must be continuously monitored for performance and reliability.</a:t>
            </a:r>
          </a:p>
          <a:p>
            <a:pPr marL="342900" indent="-342900">
              <a:spcBef>
                <a:spcPts val="400"/>
              </a:spcBef>
              <a:buClr>
                <a:srgbClr val="6699FF"/>
              </a:buClr>
              <a:buSzPct val="100000"/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spcBef>
                <a:spcPts val="400"/>
              </a:spcBef>
              <a:buClr>
                <a:srgbClr val="6699FF"/>
              </a:buClr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Traditional centralized monitoring systems create a single point of failure and lack scalability.</a:t>
            </a:r>
          </a:p>
          <a:p>
            <a:pPr marL="342900" indent="-342900">
              <a:spcBef>
                <a:spcPts val="400"/>
              </a:spcBef>
              <a:buClr>
                <a:srgbClr val="6699FF"/>
              </a:buClr>
              <a:buSzPct val="100000"/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spcBef>
                <a:spcPts val="400"/>
              </a:spcBef>
              <a:buClr>
                <a:srgbClr val="6699FF"/>
              </a:buClr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This project proposes a distributed health monitoring system where multiple services are monitored in real-time using a central and backup monitoring mechanism.</a:t>
            </a:r>
          </a:p>
          <a:p>
            <a:pPr marL="342900" indent="-342900">
              <a:spcBef>
                <a:spcPts val="400"/>
              </a:spcBef>
              <a:buClr>
                <a:srgbClr val="6699FF"/>
              </a:buClr>
              <a:buSzPct val="100000"/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spcBef>
                <a:spcPts val="400"/>
              </a:spcBef>
              <a:buClr>
                <a:srgbClr val="6699FF"/>
              </a:buClr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The system ensures fault tolerance, high availability, and real-time alert generation for system anomalies.</a:t>
            </a: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57" name="Motivation"/>
          <p:cNvSpPr txBox="1">
            <a:spLocks noGrp="1"/>
          </p:cNvSpPr>
          <p:nvPr>
            <p:ph type="title"/>
          </p:nvPr>
        </p:nvSpPr>
        <p:spPr>
          <a:xfrm>
            <a:off x="1143000" y="193299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Literature Survey</a:t>
            </a:r>
            <a:endParaRPr sz="32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F2FD5F-6B9F-2E19-8465-FC3D71ABBA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532716"/>
              </p:ext>
            </p:extLst>
          </p:nvPr>
        </p:nvGraphicFramePr>
        <p:xfrm>
          <a:off x="778328" y="1289957"/>
          <a:ext cx="7629250" cy="5022500"/>
        </p:xfrm>
        <a:graphic>
          <a:graphicData uri="http://schemas.openxmlformats.org/drawingml/2006/table">
            <a:tbl>
              <a:tblPr/>
              <a:tblGrid>
                <a:gridCol w="1525850">
                  <a:extLst>
                    <a:ext uri="{9D8B030D-6E8A-4147-A177-3AD203B41FA5}">
                      <a16:colId xmlns:a16="http://schemas.microsoft.com/office/drawing/2014/main" val="4110604311"/>
                    </a:ext>
                  </a:extLst>
                </a:gridCol>
                <a:gridCol w="1525850">
                  <a:extLst>
                    <a:ext uri="{9D8B030D-6E8A-4147-A177-3AD203B41FA5}">
                      <a16:colId xmlns:a16="http://schemas.microsoft.com/office/drawing/2014/main" val="1053228529"/>
                    </a:ext>
                  </a:extLst>
                </a:gridCol>
                <a:gridCol w="1535602">
                  <a:extLst>
                    <a:ext uri="{9D8B030D-6E8A-4147-A177-3AD203B41FA5}">
                      <a16:colId xmlns:a16="http://schemas.microsoft.com/office/drawing/2014/main" val="1861721573"/>
                    </a:ext>
                  </a:extLst>
                </a:gridCol>
                <a:gridCol w="1516098">
                  <a:extLst>
                    <a:ext uri="{9D8B030D-6E8A-4147-A177-3AD203B41FA5}">
                      <a16:colId xmlns:a16="http://schemas.microsoft.com/office/drawing/2014/main" val="2165246862"/>
                    </a:ext>
                  </a:extLst>
                </a:gridCol>
                <a:gridCol w="1525850">
                  <a:extLst>
                    <a:ext uri="{9D8B030D-6E8A-4147-A177-3AD203B41FA5}">
                      <a16:colId xmlns:a16="http://schemas.microsoft.com/office/drawing/2014/main" val="2871600118"/>
                    </a:ext>
                  </a:extLst>
                </a:gridCol>
              </a:tblGrid>
              <a:tr h="7595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 err="1">
                          <a:effectLst/>
                        </a:rPr>
                        <a:t>S.No</a:t>
                      </a:r>
                      <a:endParaRPr lang="en-IN" sz="1200" b="1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Author Name(s)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Full title of the paper with year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Inference from the paper (methodology, technology)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Open problem (for your proposed work)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60531"/>
                  </a:ext>
                </a:extLst>
              </a:tr>
              <a:tr h="22194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effectLst/>
                        </a:rPr>
                        <a:t>1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effectLst/>
                        </a:rPr>
                        <a:t>S. Newman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effectLst/>
                        </a:rPr>
                        <a:t>Building Microservices (2022)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This paper explains microservices architecture, focusing on scalability, independent deployment, and modular system design for distributed applications.</a:t>
                      </a:r>
                      <a:endParaRPr lang="en-US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effectLst/>
                        </a:rPr>
                        <a:t>Managing communication overhead and coordination between multiple distributed services remains a challenge.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674616"/>
                  </a:ext>
                </a:extLst>
              </a:tr>
              <a:tr h="20369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effectLst/>
                        </a:rPr>
                        <a:t>2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effectLst/>
                        </a:rPr>
                        <a:t>M. Villamizar et al.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Evaluating Monolithic vs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Microservices Architecture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(2022)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This study compares monolithic and microservices architectures in terms of performance, scalability, and flexibility in distributed systems.</a:t>
                      </a:r>
                      <a:endParaRPr lang="en-US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Achieving efficient monitoring and coordination in large-scale microservices environments is still difficult.</a:t>
                      </a:r>
                    </a:p>
                    <a:p>
                      <a:pPr algn="ctr">
                        <a:buNone/>
                      </a:pPr>
                      <a:r>
                        <a:rPr lang="en-US" sz="1200" b="0" dirty="0">
                          <a:effectLst/>
                        </a:rPr>
                        <a:t>.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74922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7A1FE-805A-726E-B70E-CA5DA243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55593472-4C59-21FB-E226-E6D4DC64ADE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B0322800-DAF5-CC34-2E0B-D83AFBC5D3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193299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Literature Survey</a:t>
            </a:r>
            <a:endParaRPr sz="32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6846C0-8745-75AF-5C26-4810A67E0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900113"/>
              </p:ext>
            </p:extLst>
          </p:nvPr>
        </p:nvGraphicFramePr>
        <p:xfrm>
          <a:off x="638356" y="1289957"/>
          <a:ext cx="7972245" cy="5015952"/>
        </p:xfrm>
        <a:graphic>
          <a:graphicData uri="http://schemas.openxmlformats.org/drawingml/2006/table">
            <a:tbl>
              <a:tblPr/>
              <a:tblGrid>
                <a:gridCol w="1594449">
                  <a:extLst>
                    <a:ext uri="{9D8B030D-6E8A-4147-A177-3AD203B41FA5}">
                      <a16:colId xmlns:a16="http://schemas.microsoft.com/office/drawing/2014/main" val="4110604311"/>
                    </a:ext>
                  </a:extLst>
                </a:gridCol>
                <a:gridCol w="1594449">
                  <a:extLst>
                    <a:ext uri="{9D8B030D-6E8A-4147-A177-3AD203B41FA5}">
                      <a16:colId xmlns:a16="http://schemas.microsoft.com/office/drawing/2014/main" val="1053228529"/>
                    </a:ext>
                  </a:extLst>
                </a:gridCol>
                <a:gridCol w="1622668">
                  <a:extLst>
                    <a:ext uri="{9D8B030D-6E8A-4147-A177-3AD203B41FA5}">
                      <a16:colId xmlns:a16="http://schemas.microsoft.com/office/drawing/2014/main" val="1861721573"/>
                    </a:ext>
                  </a:extLst>
                </a:gridCol>
                <a:gridCol w="1566230">
                  <a:extLst>
                    <a:ext uri="{9D8B030D-6E8A-4147-A177-3AD203B41FA5}">
                      <a16:colId xmlns:a16="http://schemas.microsoft.com/office/drawing/2014/main" val="2165246862"/>
                    </a:ext>
                  </a:extLst>
                </a:gridCol>
                <a:gridCol w="1594449">
                  <a:extLst>
                    <a:ext uri="{9D8B030D-6E8A-4147-A177-3AD203B41FA5}">
                      <a16:colId xmlns:a16="http://schemas.microsoft.com/office/drawing/2014/main" val="2871600118"/>
                    </a:ext>
                  </a:extLst>
                </a:gridCol>
              </a:tblGrid>
              <a:tr h="7595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S.No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Author Name(s)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Full title of the paper with year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Inference from the paper (methodology, technology)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Open problem (for your proposed work)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60531"/>
                  </a:ext>
                </a:extLst>
              </a:tr>
              <a:tr h="22194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effectLst/>
                        </a:rPr>
                        <a:t>3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N. Dragoni et al.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Microservices: Yesterday,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Today, Tomorrow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(2022)</a:t>
                      </a:r>
                      <a:endParaRPr lang="en-US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This paper provides an overview of microservices evolution and highlights their role in distributed system design.</a:t>
                      </a:r>
                      <a:endParaRPr lang="en-US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Ensuring reliability and fault tolerance in highly dynamic distributed environments remains a challenge.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674616"/>
                  </a:ext>
                </a:extLst>
              </a:tr>
              <a:tr h="20369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effectLst/>
                        </a:rPr>
                        <a:t>4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R. Taibi et al.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Migration to Microservices</a:t>
                      </a:r>
                      <a:br>
                        <a:rPr lang="en-IN" sz="1200" dirty="0"/>
                      </a:br>
                      <a:r>
                        <a:rPr lang="en-IN" sz="1200" dirty="0"/>
                        <a:t>Architecture</a:t>
                      </a:r>
                      <a:br>
                        <a:rPr lang="en-IN" sz="1200" dirty="0"/>
                      </a:br>
                      <a:r>
                        <a:rPr lang="en-IN" sz="1200" dirty="0"/>
                        <a:t>(2023)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This research discusses challenges and methodologies involved in migrating from monolithic to microservices systems.</a:t>
                      </a:r>
                      <a:endParaRPr lang="en-US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Handling failures and maintaining system stability during migration is still an open issue.</a:t>
                      </a:r>
                    </a:p>
                    <a:p>
                      <a:pPr algn="ctr">
                        <a:buNone/>
                      </a:pPr>
                      <a:endParaRPr lang="en-US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749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23586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4F790-5DA2-1810-3CF6-6BCDFAFB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54A023C5-5AFC-12AE-698B-57F93FFBB3C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46F1CF22-074F-DAB7-9406-A5AE2D562D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193299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Literature Survey</a:t>
            </a:r>
            <a:endParaRPr sz="32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C9B8EC-693C-C95C-BA58-4251BBBA0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036918"/>
              </p:ext>
            </p:extLst>
          </p:nvPr>
        </p:nvGraphicFramePr>
        <p:xfrm>
          <a:off x="778328" y="1289957"/>
          <a:ext cx="7629250" cy="5022500"/>
        </p:xfrm>
        <a:graphic>
          <a:graphicData uri="http://schemas.openxmlformats.org/drawingml/2006/table">
            <a:tbl>
              <a:tblPr/>
              <a:tblGrid>
                <a:gridCol w="1525850">
                  <a:extLst>
                    <a:ext uri="{9D8B030D-6E8A-4147-A177-3AD203B41FA5}">
                      <a16:colId xmlns:a16="http://schemas.microsoft.com/office/drawing/2014/main" val="4110604311"/>
                    </a:ext>
                  </a:extLst>
                </a:gridCol>
                <a:gridCol w="1525850">
                  <a:extLst>
                    <a:ext uri="{9D8B030D-6E8A-4147-A177-3AD203B41FA5}">
                      <a16:colId xmlns:a16="http://schemas.microsoft.com/office/drawing/2014/main" val="1053228529"/>
                    </a:ext>
                  </a:extLst>
                </a:gridCol>
                <a:gridCol w="1535602">
                  <a:extLst>
                    <a:ext uri="{9D8B030D-6E8A-4147-A177-3AD203B41FA5}">
                      <a16:colId xmlns:a16="http://schemas.microsoft.com/office/drawing/2014/main" val="1861721573"/>
                    </a:ext>
                  </a:extLst>
                </a:gridCol>
                <a:gridCol w="1516098">
                  <a:extLst>
                    <a:ext uri="{9D8B030D-6E8A-4147-A177-3AD203B41FA5}">
                      <a16:colId xmlns:a16="http://schemas.microsoft.com/office/drawing/2014/main" val="2165246862"/>
                    </a:ext>
                  </a:extLst>
                </a:gridCol>
                <a:gridCol w="1525850">
                  <a:extLst>
                    <a:ext uri="{9D8B030D-6E8A-4147-A177-3AD203B41FA5}">
                      <a16:colId xmlns:a16="http://schemas.microsoft.com/office/drawing/2014/main" val="2871600118"/>
                    </a:ext>
                  </a:extLst>
                </a:gridCol>
              </a:tblGrid>
              <a:tr h="7595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S.No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Author Name(s)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Full title of the paper with year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Inference from the paper (methodology, technology)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Open problem (for your proposed work)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60531"/>
                  </a:ext>
                </a:extLst>
              </a:tr>
              <a:tr h="22194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effectLst/>
                        </a:rPr>
                        <a:t>5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L. Chen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Microservices and DevOps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Architecture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(2023</a:t>
                      </a:r>
                      <a:r>
                        <a:rPr lang="en-US" sz="1200" b="0" dirty="0">
                          <a:effectLst/>
                        </a:rPr>
                        <a:t>)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This paper focuses on continuous integration, deployment, and monitoring techniques used in microservices-based systems.</a:t>
                      </a:r>
                      <a:endParaRPr lang="en-US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Real-time monitoring and efficient alert generation remain challenging problems.</a:t>
                      </a:r>
                      <a:endParaRPr lang="en-US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674616"/>
                  </a:ext>
                </a:extLst>
              </a:tr>
              <a:tr h="20369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effectLst/>
                        </a:rPr>
                        <a:t>6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J. </a:t>
                      </a:r>
                      <a:r>
                        <a:rPr lang="en-IN" sz="1200" dirty="0" err="1"/>
                        <a:t>Thönes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Microservices Design</a:t>
                      </a:r>
                      <a:br>
                        <a:rPr lang="en-IN" sz="1200" dirty="0"/>
                      </a:br>
                      <a:r>
                        <a:rPr lang="en-IN" sz="1200" dirty="0"/>
                        <a:t>Principles</a:t>
                      </a:r>
                      <a:br>
                        <a:rPr lang="en-IN" sz="1200" dirty="0"/>
                      </a:br>
                      <a:r>
                        <a:rPr lang="en-IN" sz="1200" dirty="0"/>
                        <a:t>(2023)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This work describes design principles and patterns for building scalable and maintainable distributed systems.</a:t>
                      </a:r>
                      <a:endParaRPr lang="en-US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Reducing latency and improving communication efficiency between services is an open problem.</a:t>
                      </a:r>
                      <a:endParaRPr lang="en-US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749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112371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272EE-9689-7C69-9553-A6552FA3A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5D877A90-381D-F1EB-9DDD-F2B723FB820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BB4948F4-5D05-FB9B-A2B6-D5D6EDFC2F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193299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Literature Survey</a:t>
            </a:r>
            <a:endParaRPr sz="32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80C73C-6DBB-15DB-B676-1D3DB074B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489579"/>
              </p:ext>
            </p:extLst>
          </p:nvPr>
        </p:nvGraphicFramePr>
        <p:xfrm>
          <a:off x="778328" y="1289957"/>
          <a:ext cx="7629250" cy="5022500"/>
        </p:xfrm>
        <a:graphic>
          <a:graphicData uri="http://schemas.openxmlformats.org/drawingml/2006/table">
            <a:tbl>
              <a:tblPr/>
              <a:tblGrid>
                <a:gridCol w="1525850">
                  <a:extLst>
                    <a:ext uri="{9D8B030D-6E8A-4147-A177-3AD203B41FA5}">
                      <a16:colId xmlns:a16="http://schemas.microsoft.com/office/drawing/2014/main" val="4110604311"/>
                    </a:ext>
                  </a:extLst>
                </a:gridCol>
                <a:gridCol w="1525850">
                  <a:extLst>
                    <a:ext uri="{9D8B030D-6E8A-4147-A177-3AD203B41FA5}">
                      <a16:colId xmlns:a16="http://schemas.microsoft.com/office/drawing/2014/main" val="1053228529"/>
                    </a:ext>
                  </a:extLst>
                </a:gridCol>
                <a:gridCol w="1535602">
                  <a:extLst>
                    <a:ext uri="{9D8B030D-6E8A-4147-A177-3AD203B41FA5}">
                      <a16:colId xmlns:a16="http://schemas.microsoft.com/office/drawing/2014/main" val="1861721573"/>
                    </a:ext>
                  </a:extLst>
                </a:gridCol>
                <a:gridCol w="1516098">
                  <a:extLst>
                    <a:ext uri="{9D8B030D-6E8A-4147-A177-3AD203B41FA5}">
                      <a16:colId xmlns:a16="http://schemas.microsoft.com/office/drawing/2014/main" val="2165246862"/>
                    </a:ext>
                  </a:extLst>
                </a:gridCol>
                <a:gridCol w="1525850">
                  <a:extLst>
                    <a:ext uri="{9D8B030D-6E8A-4147-A177-3AD203B41FA5}">
                      <a16:colId xmlns:a16="http://schemas.microsoft.com/office/drawing/2014/main" val="2871600118"/>
                    </a:ext>
                  </a:extLst>
                </a:gridCol>
              </a:tblGrid>
              <a:tr h="7595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S.No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Author Name(s)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Full title of the paper with year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Inference from the paper (methodology, technology)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Open problem (for your proposed work)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60531"/>
                  </a:ext>
                </a:extLst>
              </a:tr>
              <a:tr h="22194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effectLst/>
                        </a:rPr>
                        <a:t>7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A. Balalaie et al.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Microservices and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Cloud-Native Systems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(2024)</a:t>
                      </a:r>
                      <a:endParaRPr lang="en-US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This paper explains cloud-native architectures and their integration with DevOps practices for scalable systems.</a:t>
                      </a:r>
                      <a:endParaRPr lang="en-US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Ensuring system reliability and performance under high workload conditions remains a challenge.</a:t>
                      </a:r>
                      <a:endParaRPr lang="en-US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674616"/>
                  </a:ext>
                </a:extLst>
              </a:tr>
              <a:tr h="20369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effectLst/>
                        </a:rPr>
                        <a:t>8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Y. Gan et al.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Benchmarking Distributed</a:t>
                      </a:r>
                      <a:br>
                        <a:rPr lang="en-IN" sz="1200" dirty="0"/>
                      </a:br>
                      <a:r>
                        <a:rPr lang="en-IN" sz="1200" dirty="0"/>
                        <a:t>Systems</a:t>
                      </a:r>
                      <a:br>
                        <a:rPr lang="en-IN" sz="1200" dirty="0"/>
                      </a:br>
                      <a:r>
                        <a:rPr lang="en-IN" sz="1200" dirty="0"/>
                        <a:t>(2024)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This study provides benchmarking techniques and tools to evaluate performance in microservices architectures.</a:t>
                      </a:r>
                      <a:endParaRPr lang="en-US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Improving real-time monitoring accuracy and efficiency is an open research problem.</a:t>
                      </a:r>
                      <a:r>
                        <a:rPr lang="en-US" sz="1200" b="0" dirty="0">
                          <a:effectLst/>
                        </a:rPr>
                        <a:t>.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749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76200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DBCDC-3D43-5F77-D4D5-8B27A5D99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2982E3E4-C0D9-0A3C-BA92-0411F273F2D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362F3BC2-CB71-D2ED-9ABF-C018FF5FEC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193299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Literature Survey</a:t>
            </a:r>
            <a:endParaRPr sz="32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0A1403-3255-2DD8-4B56-9D28106D9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513931"/>
              </p:ext>
            </p:extLst>
          </p:nvPr>
        </p:nvGraphicFramePr>
        <p:xfrm>
          <a:off x="778328" y="1289957"/>
          <a:ext cx="7629250" cy="5022500"/>
        </p:xfrm>
        <a:graphic>
          <a:graphicData uri="http://schemas.openxmlformats.org/drawingml/2006/table">
            <a:tbl>
              <a:tblPr/>
              <a:tblGrid>
                <a:gridCol w="1525850">
                  <a:extLst>
                    <a:ext uri="{9D8B030D-6E8A-4147-A177-3AD203B41FA5}">
                      <a16:colId xmlns:a16="http://schemas.microsoft.com/office/drawing/2014/main" val="4110604311"/>
                    </a:ext>
                  </a:extLst>
                </a:gridCol>
                <a:gridCol w="1525850">
                  <a:extLst>
                    <a:ext uri="{9D8B030D-6E8A-4147-A177-3AD203B41FA5}">
                      <a16:colId xmlns:a16="http://schemas.microsoft.com/office/drawing/2014/main" val="1053228529"/>
                    </a:ext>
                  </a:extLst>
                </a:gridCol>
                <a:gridCol w="1535602">
                  <a:extLst>
                    <a:ext uri="{9D8B030D-6E8A-4147-A177-3AD203B41FA5}">
                      <a16:colId xmlns:a16="http://schemas.microsoft.com/office/drawing/2014/main" val="1861721573"/>
                    </a:ext>
                  </a:extLst>
                </a:gridCol>
                <a:gridCol w="1516098">
                  <a:extLst>
                    <a:ext uri="{9D8B030D-6E8A-4147-A177-3AD203B41FA5}">
                      <a16:colId xmlns:a16="http://schemas.microsoft.com/office/drawing/2014/main" val="2165246862"/>
                    </a:ext>
                  </a:extLst>
                </a:gridCol>
                <a:gridCol w="1525850">
                  <a:extLst>
                    <a:ext uri="{9D8B030D-6E8A-4147-A177-3AD203B41FA5}">
                      <a16:colId xmlns:a16="http://schemas.microsoft.com/office/drawing/2014/main" val="2871600118"/>
                    </a:ext>
                  </a:extLst>
                </a:gridCol>
              </a:tblGrid>
              <a:tr h="7595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S.No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Author Name(s)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Full title of the paper with year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Inference from the paper (methodology, technology)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Open problem (for your proposed work)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60531"/>
                  </a:ext>
                </a:extLst>
              </a:tr>
              <a:tr h="22194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effectLst/>
                        </a:rPr>
                        <a:t>9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B. Burns et al.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Designing Distributed</a:t>
                      </a:r>
                      <a:br>
                        <a:rPr lang="en-IN" sz="1200" dirty="0"/>
                      </a:br>
                      <a:r>
                        <a:rPr lang="en-IN" sz="1200" dirty="0"/>
                        <a:t>Systems</a:t>
                      </a:r>
                      <a:br>
                        <a:rPr lang="en-IN" sz="1200" dirty="0"/>
                      </a:br>
                      <a:r>
                        <a:rPr lang="en-IN" sz="1200" dirty="0"/>
                        <a:t>(2025</a:t>
                      </a:r>
                      <a:r>
                        <a:rPr lang="en-US" sz="1200" b="0" dirty="0">
                          <a:effectLst/>
                        </a:rPr>
                        <a:t>)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This work describes scalable system design patterns and monitoring techniques used in distributed environments.</a:t>
                      </a:r>
                      <a:endParaRPr lang="en-US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Handling automatic recovery from system failures remains a key challenge.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674616"/>
                  </a:ext>
                </a:extLst>
              </a:tr>
              <a:tr h="20369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effectLst/>
                        </a:rPr>
                        <a:t>1</a:t>
                      </a:r>
                      <a:r>
                        <a:rPr lang="en-IN" sz="1200" b="0" dirty="0">
                          <a:effectLst/>
                        </a:rPr>
                        <a:t>0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M. Richards and N. Ford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Fundamentals of Software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Architecture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(2025)</a:t>
                      </a:r>
                      <a:endParaRPr lang="en-IN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This paper discusses best practices for designing scalable and reliable distributed systems.</a:t>
                      </a:r>
                      <a:endParaRPr lang="en-US" sz="1200" b="0" dirty="0">
                        <a:effectLst/>
                      </a:endParaRP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Developing fully autonomous monitoring and fault detection systems is still an open problem.</a:t>
                      </a:r>
                      <a:r>
                        <a:rPr lang="en-US" sz="1200" b="0" dirty="0">
                          <a:effectLst/>
                        </a:rPr>
                        <a:t>.</a:t>
                      </a:r>
                    </a:p>
                  </a:txBody>
                  <a:tcPr marL="17275" marR="17275" marT="17275" marB="17275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749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77897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589" y="104320"/>
            <a:ext cx="7315200" cy="887641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Software/Tools Requirements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 dirty="0"/>
              <a:t>13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DB9564-9F2B-C254-AAE1-70344476A3C0}"/>
              </a:ext>
            </a:extLst>
          </p:cNvPr>
          <p:cNvSpPr txBox="1"/>
          <p:nvPr/>
        </p:nvSpPr>
        <p:spPr>
          <a:xfrm>
            <a:off x="953589" y="1406105"/>
            <a:ext cx="6905075" cy="48320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dirty="0"/>
              <a:t>• Programming Language: Python 3</a:t>
            </a:r>
          </a:p>
          <a:p>
            <a:endParaRPr lang="en-IN" dirty="0"/>
          </a:p>
          <a:p>
            <a:r>
              <a:rPr lang="en-IN" dirty="0"/>
              <a:t>• Framework: Flask (for building monitoring APIs)</a:t>
            </a:r>
          </a:p>
          <a:p>
            <a:endParaRPr lang="en-IN" dirty="0"/>
          </a:p>
          <a:p>
            <a:r>
              <a:rPr lang="en-IN" dirty="0"/>
              <a:t>• Libraries Used:</a:t>
            </a:r>
          </a:p>
          <a:p>
            <a:r>
              <a:rPr lang="en-IN" dirty="0"/>
              <a:t>   - </a:t>
            </a:r>
            <a:r>
              <a:rPr lang="en-IN" dirty="0" err="1"/>
              <a:t>psutil</a:t>
            </a:r>
            <a:r>
              <a:rPr lang="en-IN" dirty="0"/>
              <a:t> (for CPU and memory monitoring)</a:t>
            </a:r>
          </a:p>
          <a:p>
            <a:r>
              <a:rPr lang="en-IN" dirty="0"/>
              <a:t>   - requests (for inter-service communication)</a:t>
            </a:r>
          </a:p>
          <a:p>
            <a:endParaRPr lang="en-IN" dirty="0"/>
          </a:p>
          <a:p>
            <a:r>
              <a:rPr lang="en-IN" dirty="0"/>
              <a:t>• Development Environment:</a:t>
            </a:r>
          </a:p>
          <a:p>
            <a:r>
              <a:rPr lang="en-IN" dirty="0"/>
              <a:t>   - Visual Studio Code</a:t>
            </a:r>
          </a:p>
          <a:p>
            <a:endParaRPr lang="en-IN" dirty="0"/>
          </a:p>
          <a:p>
            <a:r>
              <a:rPr lang="en-IN" dirty="0"/>
              <a:t>• Frontend Technologies:</a:t>
            </a:r>
          </a:p>
          <a:p>
            <a:r>
              <a:rPr lang="en-IN" dirty="0"/>
              <a:t>   - HTML, CSS (for dashboard UI)</a:t>
            </a:r>
          </a:p>
          <a:p>
            <a:endParaRPr lang="en-IN" dirty="0"/>
          </a:p>
          <a:p>
            <a:r>
              <a:rPr lang="en-IN" dirty="0"/>
              <a:t>• Communication Protocol:</a:t>
            </a:r>
          </a:p>
          <a:p>
            <a:r>
              <a:rPr lang="en-IN" dirty="0"/>
              <a:t>   - HTTP (for data exchange between services)</a:t>
            </a:r>
          </a:p>
          <a:p>
            <a:endParaRPr lang="en-IN" dirty="0"/>
          </a:p>
          <a:p>
            <a:r>
              <a:rPr lang="en-IN" dirty="0"/>
              <a:t>• Platform:</a:t>
            </a:r>
          </a:p>
          <a:p>
            <a:r>
              <a:rPr lang="en-IN" dirty="0"/>
              <a:t>   - Windows OS</a:t>
            </a:r>
          </a:p>
          <a:p>
            <a:endParaRPr lang="en-IN" dirty="0"/>
          </a:p>
          <a:p>
            <a:r>
              <a:rPr lang="en-IN" dirty="0"/>
              <a:t>• Browser:</a:t>
            </a:r>
          </a:p>
          <a:p>
            <a:r>
              <a:rPr lang="en-IN" dirty="0"/>
              <a:t>   - Google Chrome (for dashboard visualization)</a:t>
            </a:r>
          </a:p>
        </p:txBody>
      </p:sp>
    </p:spTree>
    <p:extLst>
      <p:ext uri="{BB962C8B-B14F-4D97-AF65-F5344CB8AC3E}">
        <p14:creationId xmlns:p14="http://schemas.microsoft.com/office/powerpoint/2010/main" val="241652942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 dirty="0"/>
              <a:t>6</a:t>
            </a:r>
            <a:endParaRPr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FFD176-CDD6-F84E-9B1C-FFD814000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/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74ACE-8DF3-E50D-6CC9-DA0B0EE3A616}"/>
              </a:ext>
            </a:extLst>
          </p:cNvPr>
          <p:cNvSpPr txBox="1"/>
          <p:nvPr/>
        </p:nvSpPr>
        <p:spPr>
          <a:xfrm>
            <a:off x="2286000" y="3275112"/>
            <a:ext cx="457200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F06AD8-9F6E-3207-716E-E7F6C7C136B2}"/>
              </a:ext>
            </a:extLst>
          </p:cNvPr>
          <p:cNvSpPr txBox="1"/>
          <p:nvPr/>
        </p:nvSpPr>
        <p:spPr>
          <a:xfrm>
            <a:off x="2286000" y="3275112"/>
            <a:ext cx="457200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AD80102-AE5A-C983-31A3-E2C75099C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63" y="1371599"/>
            <a:ext cx="7453222" cy="477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41883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C43B4-87A7-843B-FB56-05997A045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0F1A65A9-FB4F-1643-B348-D42C14A4868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14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EB285A-EC2B-DE12-F391-DA20035FE128}"/>
              </a:ext>
            </a:extLst>
          </p:cNvPr>
          <p:cNvSpPr txBox="1"/>
          <p:nvPr/>
        </p:nvSpPr>
        <p:spPr>
          <a:xfrm>
            <a:off x="1285657" y="396390"/>
            <a:ext cx="693234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IN" sz="3200" dirty="0"/>
              <a:t>Implementation – Backend &amp; Monitoring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84C11B-6EF6-1938-3125-BC8A9591229B}"/>
              </a:ext>
            </a:extLst>
          </p:cNvPr>
          <p:cNvSpPr txBox="1"/>
          <p:nvPr/>
        </p:nvSpPr>
        <p:spPr>
          <a:xfrm>
            <a:off x="1153577" y="1570213"/>
            <a:ext cx="6036129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600" dirty="0"/>
              <a:t>• Developed using Python and Flask framework</a:t>
            </a:r>
          </a:p>
          <a:p>
            <a:endParaRPr lang="en-US" sz="1600" dirty="0"/>
          </a:p>
          <a:p>
            <a:r>
              <a:rPr lang="en-US" sz="1600" dirty="0"/>
              <a:t>• Each microservice runs independently as a separate process</a:t>
            </a:r>
          </a:p>
          <a:p>
            <a:endParaRPr lang="en-US" sz="1600" dirty="0"/>
          </a:p>
          <a:p>
            <a:r>
              <a:rPr lang="en-US" sz="1600" dirty="0"/>
              <a:t>• System monitoring implemented using </a:t>
            </a:r>
            <a:r>
              <a:rPr lang="en-US" sz="1600" dirty="0" err="1"/>
              <a:t>psutil</a:t>
            </a:r>
            <a:r>
              <a:rPr lang="en-US" sz="1600" dirty="0"/>
              <a:t> library</a:t>
            </a:r>
          </a:p>
          <a:p>
            <a:endParaRPr lang="en-US" sz="1600" dirty="0"/>
          </a:p>
          <a:p>
            <a:r>
              <a:rPr lang="en-US" sz="1600" dirty="0"/>
              <a:t>• Tracks:</a:t>
            </a:r>
          </a:p>
          <a:p>
            <a:r>
              <a:rPr lang="en-US" sz="1600" dirty="0"/>
              <a:t>   - CPU usage</a:t>
            </a:r>
          </a:p>
          <a:p>
            <a:r>
              <a:rPr lang="en-US" sz="1600" dirty="0"/>
              <a:t>   - Memory usage</a:t>
            </a:r>
          </a:p>
          <a:p>
            <a:r>
              <a:rPr lang="en-US" sz="1600" dirty="0"/>
              <a:t>   - Response time</a:t>
            </a:r>
          </a:p>
          <a:p>
            <a:endParaRPr lang="en-US" sz="1600" dirty="0"/>
          </a:p>
          <a:p>
            <a:r>
              <a:rPr lang="en-US" sz="1600" dirty="0"/>
              <a:t>• Central Monitor collects data from all services</a:t>
            </a:r>
          </a:p>
          <a:p>
            <a:endParaRPr lang="en-US" sz="1600" dirty="0"/>
          </a:p>
          <a:p>
            <a:r>
              <a:rPr lang="en-US" sz="1600" dirty="0"/>
              <a:t>• Health check implemented using heartbeat mechanism</a:t>
            </a:r>
          </a:p>
          <a:p>
            <a:endParaRPr lang="en-US" sz="1600" dirty="0"/>
          </a:p>
          <a:p>
            <a:r>
              <a:rPr lang="en-US" sz="1600" dirty="0"/>
              <a:t>• Detects:</a:t>
            </a:r>
          </a:p>
          <a:p>
            <a:r>
              <a:rPr lang="en-US" sz="1600" dirty="0"/>
              <a:t>   - Service failures</a:t>
            </a:r>
          </a:p>
          <a:p>
            <a:r>
              <a:rPr lang="en-US" sz="1600" dirty="0"/>
              <a:t>   - Performance degradation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60828787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 dirty="0"/>
              <a:t>14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0FAD0-691E-7E2B-3B38-91668D8F4498}"/>
              </a:ext>
            </a:extLst>
          </p:cNvPr>
          <p:cNvSpPr txBox="1"/>
          <p:nvPr/>
        </p:nvSpPr>
        <p:spPr>
          <a:xfrm>
            <a:off x="1111678" y="518011"/>
            <a:ext cx="7350728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IN" sz="2800" dirty="0"/>
              <a:t>Implementation – Fault Tolerance &amp; Visualization</a:t>
            </a:r>
            <a:endParaRPr kumimoji="0" lang="en-IN" sz="27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B8B381-5944-E3F5-111C-FB539811D7F7}"/>
              </a:ext>
            </a:extLst>
          </p:cNvPr>
          <p:cNvSpPr txBox="1"/>
          <p:nvPr/>
        </p:nvSpPr>
        <p:spPr>
          <a:xfrm>
            <a:off x="1111678" y="1403819"/>
            <a:ext cx="6662057" cy="48013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800" dirty="0"/>
              <a:t>• Backup Monitor implemented for fault tolerance</a:t>
            </a:r>
          </a:p>
          <a:p>
            <a:endParaRPr lang="en-US" sz="1800" dirty="0"/>
          </a:p>
          <a:p>
            <a:r>
              <a:rPr lang="en-US" sz="1800" dirty="0"/>
              <a:t>• Automatically takes over if primary monitor fails</a:t>
            </a:r>
          </a:p>
          <a:p>
            <a:endParaRPr lang="en-US" sz="1800" dirty="0"/>
          </a:p>
          <a:p>
            <a:r>
              <a:rPr lang="en-US" sz="1800" dirty="0"/>
              <a:t>• Ensures no single point of failure</a:t>
            </a:r>
          </a:p>
          <a:p>
            <a:endParaRPr lang="en-US" sz="1800" dirty="0"/>
          </a:p>
          <a:p>
            <a:r>
              <a:rPr lang="en-US" sz="1800" dirty="0"/>
              <a:t>• Real-time alert system generates warnings for:</a:t>
            </a:r>
          </a:p>
          <a:p>
            <a:r>
              <a:rPr lang="en-US" sz="1800" dirty="0"/>
              <a:t>   - High CPU usage</a:t>
            </a:r>
          </a:p>
          <a:p>
            <a:r>
              <a:rPr lang="en-US" sz="1800" dirty="0"/>
              <a:t>   - High memory usage</a:t>
            </a:r>
          </a:p>
          <a:p>
            <a:r>
              <a:rPr lang="en-US" sz="1800" dirty="0"/>
              <a:t>   - High response time</a:t>
            </a:r>
          </a:p>
          <a:p>
            <a:endParaRPr lang="en-US" sz="1800" dirty="0"/>
          </a:p>
          <a:p>
            <a:r>
              <a:rPr lang="en-US" sz="1800" dirty="0"/>
              <a:t>• Dashboard built using HTML, CSS, and HTTP server</a:t>
            </a:r>
          </a:p>
          <a:p>
            <a:endParaRPr lang="en-US" sz="1800" dirty="0"/>
          </a:p>
          <a:p>
            <a:r>
              <a:rPr lang="en-US" sz="1800" dirty="0"/>
              <a:t>• Displays:</a:t>
            </a:r>
          </a:p>
          <a:p>
            <a:r>
              <a:rPr lang="en-US" sz="1800" dirty="0"/>
              <a:t>   - Service status (UP/DOWN)</a:t>
            </a:r>
          </a:p>
          <a:p>
            <a:r>
              <a:rPr lang="en-US" sz="1800" dirty="0"/>
              <a:t>   - Performance metrics</a:t>
            </a:r>
          </a:p>
          <a:p>
            <a:r>
              <a:rPr lang="en-US" sz="1800" dirty="0"/>
              <a:t>   - Graphical analysis of system data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8097787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0D2DA-4D91-B82D-2535-951A86A69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7097DCCC-ABBF-8D0B-0933-3D73A11001B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14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1B8BDB-856E-E72D-5102-037FB509CB18}"/>
              </a:ext>
            </a:extLst>
          </p:cNvPr>
          <p:cNvSpPr txBox="1"/>
          <p:nvPr/>
        </p:nvSpPr>
        <p:spPr>
          <a:xfrm>
            <a:off x="2882756" y="438150"/>
            <a:ext cx="3378487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Result and Analysis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DBE5D3D-911E-5327-2637-5708C2A80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700" y="2592622"/>
            <a:ext cx="64389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Monitored 5 independent services in real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Detected service failure using heartbeat timeout and active health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Backup monitor successfully took over after primary failure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Metrics persisted in database and visualized on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System measured latency, detection time, recovery time, and alert timing</a:t>
            </a:r>
          </a:p>
        </p:txBody>
      </p:sp>
    </p:spTree>
    <p:extLst>
      <p:ext uri="{BB962C8B-B14F-4D97-AF65-F5344CB8AC3E}">
        <p14:creationId xmlns:p14="http://schemas.microsoft.com/office/powerpoint/2010/main" val="395681826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A4985-8CAE-A9A6-AC3B-AFC4B2C29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9A750930-4CDA-B248-FB11-A5E459F138E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 dirty="0"/>
              <a:t>14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A4C4C9-49E9-D12A-6394-6861CBF7DDBE}"/>
              </a:ext>
            </a:extLst>
          </p:cNvPr>
          <p:cNvSpPr txBox="1"/>
          <p:nvPr/>
        </p:nvSpPr>
        <p:spPr>
          <a:xfrm>
            <a:off x="2882756" y="438150"/>
            <a:ext cx="3378487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Result and Analysis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E0FA20A-2644-9C8D-8502-41582C668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292" y="4839741"/>
            <a:ext cx="64389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• Real-time monitoring of 5 services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• Displays CPU, Memory, Latency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• Shows service status (UP/DOWN)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• Graphical visualization of system performance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CE13A9-9F46-122E-531E-8C08C2ACE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37" y="1312392"/>
            <a:ext cx="6868724" cy="343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9457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 dirty="0"/>
              <a:t>14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0FAD0-691E-7E2B-3B38-91668D8F4498}"/>
              </a:ext>
            </a:extLst>
          </p:cNvPr>
          <p:cNvSpPr txBox="1"/>
          <p:nvPr/>
        </p:nvSpPr>
        <p:spPr>
          <a:xfrm>
            <a:off x="2882756" y="438150"/>
            <a:ext cx="3378487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Result and Analysis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60613FA-50AC-34D4-2F7E-F8C0C1347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486" y="4824509"/>
            <a:ext cx="736962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• Detects high CPU usage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• Detects high response time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• Generates warning logs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• Helps identify system failures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C5A36F-F7A2-57A4-2860-A3C4172F7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79" y="1673364"/>
            <a:ext cx="7649040" cy="281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6815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E65A2-0370-E451-69E7-867922155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A79FE5D4-62B8-71CD-8D84-FA8F2CA1F4A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14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ED75A8-11D6-ADB6-0BD2-12AC9ADED653}"/>
              </a:ext>
            </a:extLst>
          </p:cNvPr>
          <p:cNvSpPr txBox="1"/>
          <p:nvPr/>
        </p:nvSpPr>
        <p:spPr>
          <a:xfrm>
            <a:off x="2882756" y="438150"/>
            <a:ext cx="350031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Future Enhancement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78A9BED-8C55-8045-4590-0835E7ED5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1846448"/>
            <a:ext cx="7658100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Deploy across multiple machines instead of one local system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Use Raft/consensus-style leader election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Add authentication and secure APIs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Export benchmark reports as CSV/JSON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Deploy with Docker/Kubernetes</a:t>
            </a:r>
          </a:p>
        </p:txBody>
      </p:sp>
    </p:spTree>
    <p:extLst>
      <p:ext uri="{BB962C8B-B14F-4D97-AF65-F5344CB8AC3E}">
        <p14:creationId xmlns:p14="http://schemas.microsoft.com/office/powerpoint/2010/main" val="37184460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137" y="1137103"/>
            <a:ext cx="8229600" cy="1005206"/>
          </a:xfrm>
        </p:spPr>
        <p:txBody>
          <a:bodyPr/>
          <a:lstStyle/>
          <a:p>
            <a:r>
              <a:rPr lang="en-US" sz="3200" dirty="0">
                <a:latin typeface="Times New Roman"/>
                <a:cs typeface="Times New Roman"/>
              </a:rPr>
              <a:t>Conclusion</a:t>
            </a:r>
            <a:endParaRPr lang="en-IN" sz="3200" dirty="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8D77C-120F-6344-B7B5-1FCADC3AAC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16</a:t>
            </a:fld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475A0CF-AF13-42AD-4F3B-D460EFDCF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58" y="2426263"/>
            <a:ext cx="8049985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Successfully implemented a distributed monitoring system</a:t>
            </a:r>
          </a:p>
          <a:p>
            <a:pPr marL="285750" lvl="0" indent="-28575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Achieved fault tolerance using backup monitor</a:t>
            </a:r>
          </a:p>
          <a:p>
            <a:pPr marL="285750" lvl="0" indent="-28575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Ensured real-time detection of system issues</a:t>
            </a:r>
          </a:p>
          <a:p>
            <a:pPr marL="285750" lvl="0" indent="-28575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Eliminated single point of failure</a:t>
            </a:r>
          </a:p>
          <a:p>
            <a:pPr marL="285750" lvl="0" indent="-28575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Demonstrated distributed system behavior effectively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74424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808A3A-EE09-8EB7-BE44-F1E3DD70747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17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2E3D64-6C28-9163-442C-F9CC8FB73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0"/>
            <a:ext cx="8229600" cy="1508126"/>
          </a:xfrm>
        </p:spPr>
        <p:txBody>
          <a:bodyPr/>
          <a:lstStyle/>
          <a:p>
            <a:r>
              <a:rPr lang="en-IN" dirty="0"/>
              <a:t>Team Contributions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73274-3FBF-F8AB-D4D2-F19A686289C7}"/>
              </a:ext>
            </a:extLst>
          </p:cNvPr>
          <p:cNvSpPr txBox="1"/>
          <p:nvPr/>
        </p:nvSpPr>
        <p:spPr>
          <a:xfrm>
            <a:off x="1117120" y="1508126"/>
            <a:ext cx="6599208" cy="47089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000" dirty="0"/>
              <a:t>Meghana:</a:t>
            </a:r>
          </a:p>
          <a:p>
            <a:r>
              <a:rPr lang="en-US" sz="2000" dirty="0"/>
              <a:t>• Contributed to backend development and monitoring system</a:t>
            </a:r>
          </a:p>
          <a:p>
            <a:r>
              <a:rPr lang="en-US" sz="2000" dirty="0"/>
              <a:t>• Worked on CPU, memory, and latency tracking</a:t>
            </a:r>
          </a:p>
          <a:p>
            <a:r>
              <a:rPr lang="en-US" sz="2000" dirty="0"/>
              <a:t>• Assisted in system integration and testing</a:t>
            </a:r>
          </a:p>
          <a:p>
            <a:endParaRPr lang="en-US" sz="2000" dirty="0"/>
          </a:p>
          <a:p>
            <a:r>
              <a:rPr lang="en-US" sz="2000" dirty="0"/>
              <a:t>Pavitra:</a:t>
            </a:r>
          </a:p>
          <a:p>
            <a:r>
              <a:rPr lang="en-US" sz="2000" dirty="0"/>
              <a:t>• Contributed to frontend dashboard design and development</a:t>
            </a:r>
          </a:p>
          <a:p>
            <a:r>
              <a:rPr lang="en-US" sz="2000" dirty="0"/>
              <a:t>• Worked on data visualization and UI implementation</a:t>
            </a:r>
          </a:p>
          <a:p>
            <a:r>
              <a:rPr lang="en-US" sz="2000" dirty="0"/>
              <a:t>• Assisted in integrating frontend with backend services</a:t>
            </a:r>
          </a:p>
          <a:p>
            <a:endParaRPr lang="en-US" sz="2000" dirty="0"/>
          </a:p>
          <a:p>
            <a:r>
              <a:rPr lang="en-US" sz="2000" dirty="0"/>
              <a:t>Anvitha :</a:t>
            </a:r>
          </a:p>
          <a:p>
            <a:r>
              <a:rPr lang="en-US" sz="2000" dirty="0"/>
              <a:t>• Contributed to service communication and system architecture</a:t>
            </a:r>
          </a:p>
          <a:p>
            <a:r>
              <a:rPr lang="en-US" sz="2000" dirty="0"/>
              <a:t>• Worked on fault tolerance and backup monitor system</a:t>
            </a:r>
          </a:p>
          <a:p>
            <a:r>
              <a:rPr lang="en-US" sz="2000" dirty="0"/>
              <a:t>• Assisted in testing and debugging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7588115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892B6-7BDC-34CC-7750-08BC836D6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B74F2-EB9E-3CEC-B797-7D1259AD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092" y="243282"/>
            <a:ext cx="8229600" cy="1005206"/>
          </a:xfrm>
        </p:spPr>
        <p:txBody>
          <a:bodyPr/>
          <a:lstStyle/>
          <a:p>
            <a:r>
              <a:rPr lang="en-IN" sz="3200" dirty="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1EF653-DEC9-BBBE-EEFB-CBFE6FC03F8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18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22C60F-B083-8A89-D6CE-3ABECBBC203A}"/>
              </a:ext>
            </a:extLst>
          </p:cNvPr>
          <p:cNvSpPr txBox="1"/>
          <p:nvPr/>
        </p:nvSpPr>
        <p:spPr>
          <a:xfrm>
            <a:off x="746307" y="1248488"/>
            <a:ext cx="7957745" cy="5078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/>
              <a:t>[1] S. Newman, “Building Microservices,” O’Reilly, 2022.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[2] M. Villamizar et al., “Evaluating Monolithic vs Microservices Architecture,” IEEE, 2022.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[3] N. Dragoni et al., “Microservices: Yesterday, Today, Tomorrow,” Springer, 2022.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[4] R. Taibi et al., “Migration to Microservices Architecture,” IEEE, 2023.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[5] L. Chen, “Microservices and DevOps Architecture,” IEEE, 2023.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[6] J. </a:t>
            </a:r>
            <a:r>
              <a:rPr lang="en-IN" sz="1800" dirty="0" err="1"/>
              <a:t>Thönes</a:t>
            </a:r>
            <a:r>
              <a:rPr lang="en-IN" sz="1800" dirty="0"/>
              <a:t>, “Microservices Design Principles,” IEEE Software, 2023.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[7] A. Balalaie et al., “Microservices and Cloud-Native Systems,” IEEE, 2024.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[8] Y. Gan et al., “Benchmarking Distributed Systems,” ACM, 2024.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[9] B. Burns et al., “Designing Distributed Systems,” O’Reilly, 2025.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[10] M. Richards and N. Ford, “Fundamentals of Software Architecture,” O’Reilly, 2025.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8481718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6" y="2809149"/>
            <a:ext cx="8229600" cy="150812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A96B-8B05-BD49-B6F0-8D4DA60AFD4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17277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8047</TotalTime>
  <Words>1459</Words>
  <Application>Microsoft Office PowerPoint</Application>
  <PresentationFormat>On-screen Show (4:3)</PresentationFormat>
  <Paragraphs>252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Times New Roman</vt:lpstr>
      <vt:lpstr>Wingdings</vt:lpstr>
      <vt:lpstr>11_Default Design</vt:lpstr>
      <vt:lpstr> Distributed Microservice Health Monitoring System</vt:lpstr>
      <vt:lpstr>Problem Definition</vt:lpstr>
      <vt:lpstr>Literature Survey</vt:lpstr>
      <vt:lpstr>Literature Survey</vt:lpstr>
      <vt:lpstr>Literature Survey</vt:lpstr>
      <vt:lpstr>Literature Survey</vt:lpstr>
      <vt:lpstr>Literature Survey</vt:lpstr>
      <vt:lpstr>Software/Tools Requirements</vt:lpstr>
      <vt:lpstr>Architecture /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Team Contributions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Emotion Detection System</dc:title>
  <dc:creator>sundar rathinavel</dc:creator>
  <cp:lastModifiedBy>Meghana_2506@outlook.com</cp:lastModifiedBy>
  <cp:revision>172</cp:revision>
  <dcterms:modified xsi:type="dcterms:W3CDTF">2026-04-29T14:10:50Z</dcterms:modified>
</cp:coreProperties>
</file>